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56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29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21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35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25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34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4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8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4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2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54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201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878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381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499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7285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FFCB9F6-63FC-4ED5-A42C-D418A1CF041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02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0848BE2-8D43-501B-6AB2-E0025BAD132C}"/>
              </a:ext>
            </a:extLst>
          </p:cNvPr>
          <p:cNvSpPr/>
          <p:nvPr/>
        </p:nvSpPr>
        <p:spPr>
          <a:xfrm>
            <a:off x="776377" y="1993460"/>
            <a:ext cx="10679502" cy="4225725"/>
          </a:xfrm>
          <a:prstGeom prst="rect">
            <a:avLst/>
          </a:prstGeom>
          <a:solidFill>
            <a:srgbClr val="CDF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546B3F-4A6C-4988-6378-22752A29B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29726"/>
            <a:ext cx="8886192" cy="861420"/>
          </a:xfrm>
        </p:spPr>
        <p:txBody>
          <a:bodyPr/>
          <a:lstStyle/>
          <a:p>
            <a:r>
              <a:rPr lang="pt-BR" sz="2400" dirty="0"/>
              <a:t>Lucro Líquido cresceu 0,4% frente ao 2T25, com sólido avanço de 18,6% no acumulado de 9M25.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F03951-8417-6149-84F6-B0D1F73E5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398118"/>
            <a:ext cx="8825658" cy="318539"/>
          </a:xfrm>
        </p:spPr>
        <p:txBody>
          <a:bodyPr>
            <a:normAutofit/>
          </a:bodyPr>
          <a:lstStyle/>
          <a:p>
            <a:r>
              <a:rPr lang="pt-BR" sz="1050" dirty="0"/>
              <a:t>Resultados refletem os avanços na execução da nossa estratégia: fortalecer e sustentar o core business, diversificar receitas e fortalecer abordagem relacional com nossos clientes pessoas físicas e jurídicas.</a:t>
            </a:r>
          </a:p>
        </p:txBody>
      </p:sp>
      <p:pic>
        <p:nvPicPr>
          <p:cNvPr id="7" name="Picture 6" descr="03_roe_trimest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850" y="1993460"/>
            <a:ext cx="6835900" cy="2871079"/>
          </a:xfrm>
          <a:prstGeom prst="rect">
            <a:avLst/>
          </a:prstGeom>
        </p:spPr>
      </p:pic>
      <p:pic>
        <p:nvPicPr>
          <p:cNvPr id="8" name="Picture 7" descr="04_roe_9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345" y="2166270"/>
            <a:ext cx="2452581" cy="1030084"/>
          </a:xfrm>
          <a:prstGeom prst="rect">
            <a:avLst/>
          </a:prstGeom>
        </p:spPr>
      </p:pic>
      <p:pic>
        <p:nvPicPr>
          <p:cNvPr id="9" name="Picture 8" descr="01_lucro_trimestr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729" y="2778477"/>
            <a:ext cx="7168143" cy="3440708"/>
          </a:xfrm>
          <a:prstGeom prst="rect">
            <a:avLst/>
          </a:prstGeom>
        </p:spPr>
      </p:pic>
      <p:pic>
        <p:nvPicPr>
          <p:cNvPr id="10" name="Picture 9" descr="02_lucro_9m.png"/>
          <p:cNvPicPr>
            <a:picLocks noChangeAspect="1"/>
          </p:cNvPicPr>
          <p:nvPr/>
        </p:nvPicPr>
        <p:blipFill>
          <a:blip r:embed="rId5"/>
          <a:srcRect l="12150" t="747" r="12168" b="-747"/>
          <a:stretch/>
        </p:blipFill>
        <p:spPr>
          <a:xfrm>
            <a:off x="8109486" y="3429001"/>
            <a:ext cx="3180657" cy="268712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CBEAE15-BDF4-4DE2-E8FA-522FC2F4ED8B}"/>
              </a:ext>
            </a:extLst>
          </p:cNvPr>
          <p:cNvSpPr txBox="1"/>
          <p:nvPr/>
        </p:nvSpPr>
        <p:spPr>
          <a:xfrm>
            <a:off x="758387" y="2086078"/>
            <a:ext cx="361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15%%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91DB44-461A-77AF-DCC8-68DA7088D40A}"/>
              </a:ext>
            </a:extLst>
          </p:cNvPr>
          <p:cNvSpPr txBox="1"/>
          <p:nvPr/>
        </p:nvSpPr>
        <p:spPr>
          <a:xfrm>
            <a:off x="684208" y="2455410"/>
            <a:ext cx="361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R$ 461 </a:t>
            </a:r>
            <a:r>
              <a:rPr lang="en-US" dirty="0" err="1"/>
              <a:t>milhòes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89DB41-D279-481E-77B4-AA5B67B69D1F}"/>
              </a:ext>
            </a:extLst>
          </p:cNvPr>
          <p:cNvSpPr txBox="1"/>
          <p:nvPr/>
        </p:nvSpPr>
        <p:spPr>
          <a:xfrm>
            <a:off x="564454" y="6342483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9.9%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4F71C8-7A24-B403-FB84-AD75858C2C76}"/>
              </a:ext>
            </a:extLst>
          </p:cNvPr>
          <p:cNvSpPr txBox="1"/>
          <p:nvPr/>
        </p:nvSpPr>
        <p:spPr>
          <a:xfrm>
            <a:off x="1461790" y="6344906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9.8%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D30139C-AA48-5336-4706-C9F6121C68C2}"/>
              </a:ext>
            </a:extLst>
          </p:cNvPr>
          <p:cNvSpPr txBox="1"/>
          <p:nvPr/>
        </p:nvSpPr>
        <p:spPr>
          <a:xfrm>
            <a:off x="2359126" y="6348774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9.3%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B0AE12-7145-719D-F3D5-67E522C8798B}"/>
              </a:ext>
            </a:extLst>
          </p:cNvPr>
          <p:cNvSpPr txBox="1"/>
          <p:nvPr/>
        </p:nvSpPr>
        <p:spPr>
          <a:xfrm>
            <a:off x="3256462" y="6351197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9.6%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3427753-0B5A-1FAC-F009-3D9AC9BA34FC}"/>
              </a:ext>
            </a:extLst>
          </p:cNvPr>
          <p:cNvSpPr txBox="1"/>
          <p:nvPr/>
        </p:nvSpPr>
        <p:spPr>
          <a:xfrm>
            <a:off x="4148495" y="6342483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9.9%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F1595C-1363-2182-3FCC-E5A73EC55F9F}"/>
              </a:ext>
            </a:extLst>
          </p:cNvPr>
          <p:cNvSpPr txBox="1"/>
          <p:nvPr/>
        </p:nvSpPr>
        <p:spPr>
          <a:xfrm>
            <a:off x="5045831" y="6344906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11.1%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258AE2A-DB2A-201A-24FB-5333DC3779BC}"/>
              </a:ext>
            </a:extLst>
          </p:cNvPr>
          <p:cNvSpPr txBox="1"/>
          <p:nvPr/>
        </p:nvSpPr>
        <p:spPr>
          <a:xfrm>
            <a:off x="5943167" y="6348774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9.9%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3A3CE42-85EA-1650-B881-D76B11C50CC3}"/>
              </a:ext>
            </a:extLst>
          </p:cNvPr>
          <p:cNvSpPr txBox="1"/>
          <p:nvPr/>
        </p:nvSpPr>
        <p:spPr>
          <a:xfrm>
            <a:off x="6840503" y="6351197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9.8%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4B0944F-2113-9740-5954-30EE345CEFC7}"/>
              </a:ext>
            </a:extLst>
          </p:cNvPr>
          <p:cNvSpPr txBox="1"/>
          <p:nvPr/>
        </p:nvSpPr>
        <p:spPr>
          <a:xfrm>
            <a:off x="7732211" y="6348774"/>
            <a:ext cx="754549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9.5%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503C839-0EEB-BF53-0EA0-FF09647D77F9}"/>
              </a:ext>
            </a:extLst>
          </p:cNvPr>
          <p:cNvSpPr txBox="1"/>
          <p:nvPr/>
        </p:nvSpPr>
        <p:spPr>
          <a:xfrm>
            <a:off x="8729151" y="6256040"/>
            <a:ext cx="803360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9.6%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87135C-33D5-3475-D682-619B8EF90780}"/>
              </a:ext>
            </a:extLst>
          </p:cNvPr>
          <p:cNvSpPr txBox="1"/>
          <p:nvPr/>
        </p:nvSpPr>
        <p:spPr>
          <a:xfrm>
            <a:off x="10240524" y="6253495"/>
            <a:ext cx="803360" cy="2308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9.7%</a:t>
            </a:r>
            <a:endParaRPr lang="pt-BR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313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CEC55-5620-0728-8DD1-2BEC363F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922" y="509842"/>
            <a:ext cx="8761413" cy="706964"/>
          </a:xfrm>
        </p:spPr>
        <p:txBody>
          <a:bodyPr/>
          <a:lstStyle/>
          <a:p>
            <a:r>
              <a:rPr lang="pt-BR" sz="3600" dirty="0"/>
              <a:t>Outro título de exemplo</a:t>
            </a:r>
            <a:endParaRPr lang="pt-BR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7F8E77-A7A9-E30B-4CEE-50AF85F6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922" y="1216806"/>
            <a:ext cx="8825659" cy="537265"/>
          </a:xfrm>
        </p:spPr>
        <p:txBody>
          <a:bodyPr/>
          <a:lstStyle/>
          <a:p>
            <a:r>
              <a:rPr lang="pt-BR" sz="1800" dirty="0">
                <a:solidFill>
                  <a:schemeClr val="bg1"/>
                </a:solidFill>
              </a:rPr>
              <a:t>Outro subtítulo de exemplo</a:t>
            </a:r>
          </a:p>
        </p:txBody>
      </p:sp>
      <p:pic>
        <p:nvPicPr>
          <p:cNvPr id="8" name="Imagem 7" descr="06_qualidade_total.png">
            <a:extLst>
              <a:ext uri="{FF2B5EF4-FFF2-40B4-BE49-F238E27FC236}">
                <a16:creationId xmlns:a16="http://schemas.microsoft.com/office/drawing/2014/main" id="{E2F56EA6-B013-2295-5778-8F7915537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94" b="33746"/>
          <a:stretch/>
        </p:blipFill>
        <p:spPr>
          <a:xfrm>
            <a:off x="1046922" y="2149628"/>
            <a:ext cx="9237230" cy="1607383"/>
          </a:xfrm>
          <a:prstGeom prst="rect">
            <a:avLst/>
          </a:prstGeom>
        </p:spPr>
      </p:pic>
      <p:pic>
        <p:nvPicPr>
          <p:cNvPr id="12" name="Imagem 11" descr="05_qualidade_varejo_veiculos.png">
            <a:extLst>
              <a:ext uri="{FF2B5EF4-FFF2-40B4-BE49-F238E27FC236}">
                <a16:creationId xmlns:a16="http://schemas.microsoft.com/office/drawing/2014/main" id="{17A8C266-6CC3-AC1B-B5A7-5275431D8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84" b="27970"/>
          <a:stretch/>
        </p:blipFill>
        <p:spPr>
          <a:xfrm>
            <a:off x="666038" y="3600077"/>
            <a:ext cx="9998998" cy="1807475"/>
          </a:xfrm>
          <a:prstGeom prst="rect">
            <a:avLst/>
          </a:prstGeom>
        </p:spPr>
      </p:pic>
      <p:pic>
        <p:nvPicPr>
          <p:cNvPr id="14" name="Imagem 13" descr="07_qualidade_atacado.png">
            <a:extLst>
              <a:ext uri="{FF2B5EF4-FFF2-40B4-BE49-F238E27FC236}">
                <a16:creationId xmlns:a16="http://schemas.microsoft.com/office/drawing/2014/main" id="{4CAD7E25-BAC3-0DB5-3BA4-F5693C23F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94" b="30745"/>
          <a:stretch/>
        </p:blipFill>
        <p:spPr>
          <a:xfrm>
            <a:off x="1046922" y="5250617"/>
            <a:ext cx="9237230" cy="160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1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CEC55-5620-0728-8DD1-2BEC363F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922" y="509842"/>
            <a:ext cx="8761413" cy="706964"/>
          </a:xfrm>
        </p:spPr>
        <p:txBody>
          <a:bodyPr/>
          <a:lstStyle/>
          <a:p>
            <a:r>
              <a:rPr lang="pt-BR" sz="3600" dirty="0"/>
              <a:t>Outro título de exemplo</a:t>
            </a:r>
            <a:endParaRPr lang="pt-BR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7F8E77-A7A9-E30B-4CEE-50AF85F6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922" y="1216806"/>
            <a:ext cx="8825659" cy="537265"/>
          </a:xfrm>
        </p:spPr>
        <p:txBody>
          <a:bodyPr/>
          <a:lstStyle/>
          <a:p>
            <a:r>
              <a:rPr lang="pt-BR" sz="1800" dirty="0">
                <a:solidFill>
                  <a:schemeClr val="bg1"/>
                </a:solidFill>
              </a:rPr>
              <a:t>Outro subtítulo de exemplo</a:t>
            </a:r>
          </a:p>
        </p:txBody>
      </p:sp>
      <p:pic>
        <p:nvPicPr>
          <p:cNvPr id="5" name="Imagem 4" descr="09_seguros_cartoes_total.png">
            <a:extLst>
              <a:ext uri="{FF2B5EF4-FFF2-40B4-BE49-F238E27FC236}">
                <a16:creationId xmlns:a16="http://schemas.microsoft.com/office/drawing/2014/main" id="{D840404B-A47E-6A9F-A40B-036A8F14A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988" y="2582450"/>
            <a:ext cx="5121012" cy="2464299"/>
          </a:xfrm>
          <a:prstGeom prst="rect">
            <a:avLst/>
          </a:prstGeom>
        </p:spPr>
      </p:pic>
      <p:pic>
        <p:nvPicPr>
          <p:cNvPr id="7" name="Imagem 6" descr="08_emprestimos_empilhado.png">
            <a:extLst>
              <a:ext uri="{FF2B5EF4-FFF2-40B4-BE49-F238E27FC236}">
                <a16:creationId xmlns:a16="http://schemas.microsoft.com/office/drawing/2014/main" id="{9C13C664-05E8-1769-F9F7-133DBFCE9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2" y="2501207"/>
            <a:ext cx="5327979" cy="26267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4D477C1-19D4-07E3-9F33-09F5008F12C0}"/>
              </a:ext>
            </a:extLst>
          </p:cNvPr>
          <p:cNvSpPr txBox="1"/>
          <p:nvPr/>
        </p:nvSpPr>
        <p:spPr>
          <a:xfrm>
            <a:off x="5121013" y="3038472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>
                <a:solidFill>
                  <a:srgbClr val="C00000"/>
                </a:solidFill>
              </a:rPr>
              <a:t>▼</a:t>
            </a:r>
            <a:r>
              <a:rPr/>
              <a:t> 15,4%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040E78-8F40-0441-2068-D06A4DCD50CB}"/>
              </a:ext>
            </a:extLst>
          </p:cNvPr>
          <p:cNvSpPr txBox="1"/>
          <p:nvPr/>
        </p:nvSpPr>
        <p:spPr>
          <a:xfrm>
            <a:off x="5117403" y="3393975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>
                <a:solidFill>
                  <a:srgbClr val="00B050"/>
                </a:solidFill>
              </a:rPr>
              <a:t>▲</a:t>
            </a:r>
            <a:r>
              <a:rPr/>
              <a:t> 6,3%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B9BF5A6-FA1C-94B2-BFF8-0EAFCF11AFF1}"/>
              </a:ext>
            </a:extLst>
          </p:cNvPr>
          <p:cNvSpPr txBox="1"/>
          <p:nvPr/>
        </p:nvSpPr>
        <p:spPr>
          <a:xfrm>
            <a:off x="5121012" y="3749478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>
                <a:solidFill>
                  <a:srgbClr val="C00000"/>
                </a:solidFill>
              </a:rPr>
              <a:t>▼</a:t>
            </a:r>
            <a:r>
              <a:rPr/>
              <a:t> 3,0%</a:t>
            </a:r>
          </a:p>
        </p:txBody>
      </p:sp>
    </p:spTree>
    <p:extLst>
      <p:ext uri="{BB962C8B-B14F-4D97-AF65-F5344CB8AC3E}">
        <p14:creationId xmlns:p14="http://schemas.microsoft.com/office/powerpoint/2010/main" val="37269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CEC55-5620-0728-8DD1-2BEC363F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922" y="509842"/>
            <a:ext cx="8761413" cy="706964"/>
          </a:xfrm>
        </p:spPr>
        <p:txBody>
          <a:bodyPr/>
          <a:lstStyle/>
          <a:p>
            <a:r>
              <a:rPr lang="pt-BR" sz="3600" dirty="0"/>
              <a:t>{{slide3_title}}</a:t>
            </a:r>
            <a:endParaRPr lang="pt-BR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7F8E77-A7A9-E30B-4CEE-50AF85F6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922" y="1216806"/>
            <a:ext cx="8825659" cy="537265"/>
          </a:xfrm>
        </p:spPr>
        <p:txBody>
          <a:bodyPr/>
          <a:lstStyle/>
          <a:p>
            <a:r>
              <a:rPr lang="pt-BR" sz="1800" dirty="0">
                <a:solidFill>
                  <a:schemeClr val="bg1"/>
                </a:solidFill>
              </a:rPr>
              <a:t>{{slide3_subtitle}}</a:t>
            </a:r>
          </a:p>
        </p:txBody>
      </p:sp>
      <p:pic>
        <p:nvPicPr>
          <p:cNvPr id="5" name="Imagem 4" descr="11_pizza_trimestres.png">
            <a:extLst>
              <a:ext uri="{FF2B5EF4-FFF2-40B4-BE49-F238E27FC236}">
                <a16:creationId xmlns:a16="http://schemas.microsoft.com/office/drawing/2014/main" id="{D840404B-A47E-6A9F-A40B-036A8F14A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681" y="2902533"/>
            <a:ext cx="2816277" cy="1355230"/>
          </a:xfrm>
          <a:prstGeom prst="rect">
            <a:avLst/>
          </a:prstGeom>
        </p:spPr>
      </p:pic>
      <p:pic>
        <p:nvPicPr>
          <p:cNvPr id="7" name="Imagem 6" descr="10_pizza_carteira.png">
            <a:extLst>
              <a:ext uri="{FF2B5EF4-FFF2-40B4-BE49-F238E27FC236}">
                <a16:creationId xmlns:a16="http://schemas.microsoft.com/office/drawing/2014/main" id="{9C13C664-05E8-1769-F9F7-133DBFCE9B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9" t="10725" r="4693" b="12613"/>
          <a:stretch/>
        </p:blipFill>
        <p:spPr>
          <a:xfrm>
            <a:off x="237750" y="2189431"/>
            <a:ext cx="5576454" cy="4325550"/>
          </a:xfrm>
          <a:prstGeom prst="rect">
            <a:avLst/>
          </a:prstGeom>
        </p:spPr>
      </p:pic>
      <p:pic>
        <p:nvPicPr>
          <p:cNvPr id="4" name="Imagem 3" descr="12_pizza_9m.png">
            <a:extLst>
              <a:ext uri="{FF2B5EF4-FFF2-40B4-BE49-F238E27FC236}">
                <a16:creationId xmlns:a16="http://schemas.microsoft.com/office/drawing/2014/main" id="{7BD7931B-383C-C5B4-A3CD-70A0D6FC6E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73" y="2830105"/>
            <a:ext cx="2816277" cy="135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98719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Sala de Reunião de Ião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ão de Ião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ão de Ião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109</TotalTime>
  <Words>101</Words>
  <Application>Microsoft Office PowerPoint</Application>
  <PresentationFormat>Ecrã Panorâmico</PresentationFormat>
  <Paragraphs>24</Paragraphs>
  <Slides>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Sala de Reunião de Ião</vt:lpstr>
      <vt:lpstr>{{slide1_title}}</vt:lpstr>
      <vt:lpstr>{{slide2_title}}</vt:lpstr>
      <vt:lpstr>{{slide2_title}}</vt:lpstr>
      <vt:lpstr>{{slide3_title}}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Eduardo Bortolotto</dc:creator>
  <cp:lastModifiedBy>Renato Eduardo Bortolotto</cp:lastModifiedBy>
  <cp:revision>24</cp:revision>
  <dcterms:created xsi:type="dcterms:W3CDTF">2026-01-04T21:08:42Z</dcterms:created>
  <dcterms:modified xsi:type="dcterms:W3CDTF">2026-01-23T12:44:58Z</dcterms:modified>
</cp:coreProperties>
</file>